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58" r:id="rId1"/>
  </p:sldMasterIdLst>
  <p:notesMasterIdLst>
    <p:notesMasterId r:id="rId11"/>
  </p:notesMasterIdLst>
  <p:handoutMasterIdLst>
    <p:handoutMasterId r:id="rId12"/>
  </p:handoutMasterIdLst>
  <p:sldIdLst>
    <p:sldId id="257" r:id="rId2"/>
    <p:sldId id="299" r:id="rId3"/>
    <p:sldId id="265" r:id="rId4"/>
    <p:sldId id="270" r:id="rId5"/>
    <p:sldId id="271" r:id="rId6"/>
    <p:sldId id="272" r:id="rId7"/>
    <p:sldId id="273" r:id="rId8"/>
    <p:sldId id="274" r:id="rId9"/>
    <p:sldId id="26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71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7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06/07/2026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06/07/2026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6494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06/07/2026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44DCE4FD-DEE1-4DE9-A40E-616ACEB2FE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 ………………………………………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90DFCEB3-810D-48E5-B7BA-1A6C924A64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8674100" cy="530339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7547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06/07/2026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1353402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06/07/2026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540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06/07/2026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227550"/>
            <a:ext cx="8674100" cy="486844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4231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06/07/2026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018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06/07/2026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164920"/>
            <a:ext cx="8674100" cy="493107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66482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6EAE966-F590-4BAF-A55B-75735FCC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06/07/2026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330CA1C-4366-43E8-9DC8-B360FC115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2DB13F6-9193-4FE2-AE85-5B96248C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046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9895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83" r:id="rId3"/>
    <p:sldLayoutId id="2147483679" r:id="rId4"/>
    <p:sldLayoutId id="2147483680" r:id="rId5"/>
    <p:sldLayoutId id="2147483681" r:id="rId6"/>
    <p:sldLayoutId id="2147483682" r:id="rId7"/>
    <p:sldLayoutId id="2147483678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>
            <a:extLst>
              <a:ext uri="{FF2B5EF4-FFF2-40B4-BE49-F238E27FC236}">
                <a16:creationId xmlns:a16="http://schemas.microsoft.com/office/drawing/2014/main" id="{67FB4AA9-E9AF-4CE0-A0DC-99D7952890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3012" y="398419"/>
            <a:ext cx="2037225" cy="611594"/>
          </a:xfrm>
          <a:prstGeom prst="rect">
            <a:avLst/>
          </a:prstGeom>
        </p:spPr>
      </p:pic>
      <p:sp>
        <p:nvSpPr>
          <p:cNvPr id="11" name="Title 6">
            <a:extLst>
              <a:ext uri="{FF2B5EF4-FFF2-40B4-BE49-F238E27FC236}">
                <a16:creationId xmlns:a16="http://schemas.microsoft.com/office/drawing/2014/main" id="{FF8BDF70-CFA6-4031-86B7-31F910D8115D}"/>
              </a:ext>
            </a:extLst>
          </p:cNvPr>
          <p:cNvSpPr txBox="1">
            <a:spLocks/>
          </p:cNvSpPr>
          <p:nvPr/>
        </p:nvSpPr>
        <p:spPr>
          <a:xfrm>
            <a:off x="413012" y="2421636"/>
            <a:ext cx="7342482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3600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NFT Fractional Marketplace</a:t>
            </a:r>
            <a:br>
              <a:rPr lang="en-US" sz="3600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</a:br>
            <a:endParaRPr lang="en-US" sz="3600">
              <a:latin typeface="Google Sans Flex" panose="020B0503030502040204" pitchFamily="34" charset="0"/>
              <a:ea typeface="Google Sans Flex" panose="020B0503030502040204" pitchFamily="34" charset="0"/>
              <a:cs typeface="Google Sans Flex" panose="020B0503030502040204" pitchFamily="34" charset="0"/>
            </a:endParaRPr>
          </a:p>
        </p:txBody>
      </p:sp>
      <p:sp>
        <p:nvSpPr>
          <p:cNvPr id="12" name="Title 6">
            <a:extLst>
              <a:ext uri="{FF2B5EF4-FFF2-40B4-BE49-F238E27FC236}">
                <a16:creationId xmlns:a16="http://schemas.microsoft.com/office/drawing/2014/main" id="{A4ACF486-B7D8-4A5A-B633-83527A2F99E2}"/>
              </a:ext>
            </a:extLst>
          </p:cNvPr>
          <p:cNvSpPr txBox="1">
            <a:spLocks/>
          </p:cNvSpPr>
          <p:nvPr/>
        </p:nvSpPr>
        <p:spPr>
          <a:xfrm>
            <a:off x="413012" y="3004603"/>
            <a:ext cx="7342482" cy="8487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800" b="0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Group 3</a:t>
            </a:r>
            <a:endParaRPr lang="en-US" sz="2800" b="0" dirty="0">
              <a:latin typeface="Google Sans Flex" panose="020B0503030502040204" pitchFamily="34" charset="0"/>
              <a:ea typeface="Google Sans Flex" panose="020B0503030502040204" pitchFamily="34" charset="0"/>
              <a:cs typeface="Google Sans Flex" panose="020B0503030502040204" pitchFamily="34" charset="0"/>
            </a:endParaRPr>
          </a:p>
          <a:p>
            <a:r>
              <a:rPr lang="en-US" sz="2800" b="0" dirty="0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C55CB-788A-45DB-29EF-82A2F2B98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99641EB-3F52-C59E-37F4-6EAB6A764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pPr/>
              <a:t>2</a:t>
            </a:fld>
            <a:endParaRPr lang="en-US" dirty="0">
              <a:latin typeface="Google Sans Flex" panose="020B0503030502040204" pitchFamily="34" charset="0"/>
              <a:ea typeface="Google Sans Flex" panose="020B0503030502040204" pitchFamily="34" charset="0"/>
              <a:cs typeface="Google Sans Flex" panose="020B050303050204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8EF4066-0DA5-ACB4-0D1E-853C3B343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Project Overview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F3B30C-48AA-F2AE-92A6-7FED94FA277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lvl="0"/>
            <a:r>
              <a:rPr lang="en-US" b="1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3 smart contracts: </a:t>
            </a:r>
            <a:r>
              <a:rPr lang="en-US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Token.sol, PaymentSplitter.sol, Marketplace.sol</a:t>
            </a:r>
          </a:p>
          <a:p>
            <a:pPr lvl="0"/>
            <a:r>
              <a:rPr lang="en-US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Built with </a:t>
            </a:r>
            <a:r>
              <a:rPr lang="en-US" b="1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Solidity 0.8.20 + OpenZeppelin</a:t>
            </a:r>
          </a:p>
          <a:p>
            <a:pPr lvl="0"/>
            <a:r>
              <a:rPr lang="en-US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Run entirely on Remix IDE — </a:t>
            </a:r>
            <a:r>
              <a:rPr lang="en-US" b="1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no local setup </a:t>
            </a:r>
            <a:r>
              <a:rPr lang="en-US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needed</a:t>
            </a:r>
          </a:p>
          <a:p>
            <a:pPr lvl="0"/>
            <a:r>
              <a:rPr lang="en-US" b="1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Goal: </a:t>
            </a:r>
            <a:r>
              <a:rPr lang="en-US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mint NFTs with multi-receiver royalties &amp; trade them securely</a:t>
            </a:r>
          </a:p>
        </p:txBody>
      </p:sp>
    </p:spTree>
    <p:extLst>
      <p:ext uri="{BB962C8B-B14F-4D97-AF65-F5344CB8AC3E}">
        <p14:creationId xmlns:p14="http://schemas.microsoft.com/office/powerpoint/2010/main" val="28202278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pPr/>
              <a:t>3</a:t>
            </a:fld>
            <a:endParaRPr lang="en-US" dirty="0">
              <a:latin typeface="Google Sans Flex" panose="020B0503030502040204" pitchFamily="34" charset="0"/>
              <a:ea typeface="Google Sans Flex" panose="020B0503030502040204" pitchFamily="34" charset="0"/>
              <a:cs typeface="Google Sans Flex" panose="020B050303050204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F27CAA-32BA-4E6B-B8C0-1A481E08E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Advanced ERC-721 &amp; EIP-2981 (Multi-Receiver)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563378-38F8-4CB3-AF99-2C56FCF5540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lvl="0"/>
            <a:r>
              <a:rPr lang="en-US" b="1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Standard EIP-2981 </a:t>
            </a:r>
            <a:r>
              <a:rPr lang="en-US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supports only 1 royalty receiver per token</a:t>
            </a:r>
          </a:p>
          <a:p>
            <a:pPr lvl="0"/>
            <a:r>
              <a:rPr lang="en-US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Our contract deploys a </a:t>
            </a:r>
            <a:r>
              <a:rPr lang="en-US" b="1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separate RoyaltySplitter for each new NFT</a:t>
            </a:r>
          </a:p>
          <a:p>
            <a:pPr lvl="0"/>
            <a:r>
              <a:rPr lang="en-US" b="1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mintWithFractionalRoyalty() </a:t>
            </a:r>
            <a:r>
              <a:rPr lang="en-US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takes arrays of payees + shares</a:t>
            </a:r>
          </a:p>
          <a:p>
            <a:pPr lvl="0"/>
            <a:r>
              <a:rPr lang="en-US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RoyaltySplitter is set as the EIP-2981 receiver via </a:t>
            </a:r>
            <a:r>
              <a:rPr lang="en-US" b="1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_setTokenRoyalty()</a:t>
            </a:r>
          </a:p>
          <a:p>
            <a:pPr lvl="0"/>
            <a:r>
              <a:rPr lang="en-US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Marketplace queries royaltyInfo() → sends ETH to splitter → each payee claims individually</a:t>
            </a:r>
          </a:p>
        </p:txBody>
      </p:sp>
    </p:spTree>
    <p:extLst>
      <p:ext uri="{BB962C8B-B14F-4D97-AF65-F5344CB8AC3E}">
        <p14:creationId xmlns:p14="http://schemas.microsoft.com/office/powerpoint/2010/main" val="292364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BBB23-40E2-2D38-9EA7-C1F9DDBF5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162967-C3C7-23ED-A532-869C1DEE9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pPr/>
              <a:t>4</a:t>
            </a:fld>
            <a:endParaRPr lang="en-US" dirty="0">
              <a:latin typeface="Google Sans Flex" panose="020B0503030502040204" pitchFamily="34" charset="0"/>
              <a:ea typeface="Google Sans Flex" panose="020B0503030502040204" pitchFamily="34" charset="0"/>
              <a:cs typeface="Google Sans Flex" panose="020B050303050204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7943D83-11D1-AF89-DFEF-172ABE613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Payment Splitter (Pull-Payment Pattern)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3E9D74-F5B8-CCFA-2439-4FEF1BB371D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lvl="0"/>
            <a:r>
              <a:rPr lang="en-US" b="1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Problem: </a:t>
            </a:r>
            <a:r>
              <a:rPr lang="en-US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pushing ETH to many receivers risks reentrancy + out-of-gas</a:t>
            </a:r>
          </a:p>
          <a:p>
            <a:pPr lvl="0"/>
            <a:r>
              <a:rPr lang="en-US" b="1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Solution: </a:t>
            </a:r>
            <a:r>
              <a:rPr lang="en-US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pull-payment — each receiver claims their own funds</a:t>
            </a:r>
          </a:p>
          <a:p>
            <a:pPr lvl="0"/>
            <a:r>
              <a:rPr lang="en-US" b="1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release() </a:t>
            </a:r>
            <a:r>
              <a:rPr lang="en-US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uses Checks-Effects-Interactions (updates state before sending ETH)</a:t>
            </a:r>
          </a:p>
          <a:p>
            <a:pPr lvl="0"/>
            <a:r>
              <a:rPr lang="en-US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No loops over payees → gas cost is </a:t>
            </a:r>
            <a:r>
              <a:rPr lang="en-US" b="1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small and predictable</a:t>
            </a:r>
          </a:p>
          <a:p>
            <a:pPr lvl="0"/>
            <a:r>
              <a:rPr lang="en-US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One failing receiver </a:t>
            </a:r>
            <a:r>
              <a:rPr lang="en-US" b="1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does not block</a:t>
            </a:r>
            <a:r>
              <a:rPr lang="en-US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 others</a:t>
            </a:r>
          </a:p>
        </p:txBody>
      </p:sp>
    </p:spTree>
    <p:extLst>
      <p:ext uri="{BB962C8B-B14F-4D97-AF65-F5344CB8AC3E}">
        <p14:creationId xmlns:p14="http://schemas.microsoft.com/office/powerpoint/2010/main" val="638486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66C02-9361-C5E5-55D6-305958E3F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F39971-D0CF-6AD6-7C7B-F80E78756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pPr/>
              <a:t>5</a:t>
            </a:fld>
            <a:endParaRPr lang="en-US" dirty="0">
              <a:latin typeface="Google Sans Flex" panose="020B0503030502040204" pitchFamily="34" charset="0"/>
              <a:ea typeface="Google Sans Flex" panose="020B0503030502040204" pitchFamily="34" charset="0"/>
              <a:cs typeface="Google Sans Flex" panose="020B050303050204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2286BA7-0167-F673-B5A0-9274A2B98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Atomic Swaps (Marketplace)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9F5ACF-1D1D-AC23-C15A-40C485E6724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lvl="0"/>
            <a:r>
              <a:rPr lang="en-US" b="1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buyNFT() </a:t>
            </a:r>
            <a:r>
              <a:rPr lang="en-US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is one atomic transaction: either everything succeeds or nothing does</a:t>
            </a:r>
          </a:p>
          <a:p>
            <a:pPr lvl="0"/>
            <a:r>
              <a:rPr lang="en-US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Uses nonReentrant modifier from OpenZeppelin</a:t>
            </a:r>
          </a:p>
          <a:p>
            <a:pPr lvl="0"/>
            <a:r>
              <a:rPr lang="en-US" b="1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Steps: </a:t>
            </a:r>
            <a:r>
              <a:rPr lang="en-US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deactivate listing → query royalty → send royalty → pay seller → transfer NFT → refund excess</a:t>
            </a:r>
          </a:p>
          <a:p>
            <a:pPr lvl="0"/>
            <a:r>
              <a:rPr lang="en-US" b="1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safeTransferFrom</a:t>
            </a:r>
            <a:r>
              <a:rPr lang="en-US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 prevents NFTs from being locked in incompatible contracts</a:t>
            </a:r>
          </a:p>
        </p:txBody>
      </p:sp>
    </p:spTree>
    <p:extLst>
      <p:ext uri="{BB962C8B-B14F-4D97-AF65-F5344CB8AC3E}">
        <p14:creationId xmlns:p14="http://schemas.microsoft.com/office/powerpoint/2010/main" val="4025249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36AD5-FE5A-91E2-D458-4380B69F0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6CCD4F-D411-57F9-BC7D-306FC7040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pPr/>
              <a:t>6</a:t>
            </a:fld>
            <a:endParaRPr lang="en-US" dirty="0">
              <a:latin typeface="Google Sans Flex" panose="020B0503030502040204" pitchFamily="34" charset="0"/>
              <a:ea typeface="Google Sans Flex" panose="020B0503030502040204" pitchFamily="34" charset="0"/>
              <a:cs typeface="Google Sans Flex" panose="020B050303050204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D597A27-7987-3326-89B2-A47D13A25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Lifecycle (Mint → List → Buy → Claim)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66BA5-9B9C-BC23-CA1E-05298790364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lvl="0"/>
            <a:r>
              <a:rPr lang="en-US" b="1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Mint</a:t>
            </a:r>
            <a:r>
              <a:rPr lang="en-US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 — artist calls mintWithFractionalRoyalty() → NFT created + RoyaltySplitter deployed</a:t>
            </a:r>
          </a:p>
          <a:p>
            <a:pPr lvl="0"/>
            <a:r>
              <a:rPr lang="en-US" b="1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Approve</a:t>
            </a:r>
            <a:r>
              <a:rPr lang="en-US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 — seller approves marketplace in NFT contract</a:t>
            </a:r>
          </a:p>
          <a:p>
            <a:pPr lvl="0"/>
            <a:r>
              <a:rPr lang="en-US" b="1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List</a:t>
            </a:r>
            <a:r>
              <a:rPr lang="en-US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 — seller calls listNFT() with price</a:t>
            </a:r>
          </a:p>
          <a:p>
            <a:pPr lvl="0"/>
            <a:r>
              <a:rPr lang="en-US" b="1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Buy</a:t>
            </a:r>
            <a:r>
              <a:rPr lang="en-US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 — buyer calls buyNFT() with ETH → royalty goes to splitter, proceeds to seller, NFT to buyer</a:t>
            </a:r>
          </a:p>
          <a:p>
            <a:pPr lvl="0"/>
            <a:r>
              <a:rPr lang="en-US" b="1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Claim</a:t>
            </a:r>
            <a:r>
              <a:rPr lang="en-US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 — each payee calls release() on splitter to withdraw their share</a:t>
            </a:r>
          </a:p>
        </p:txBody>
      </p:sp>
    </p:spTree>
    <p:extLst>
      <p:ext uri="{BB962C8B-B14F-4D97-AF65-F5344CB8AC3E}">
        <p14:creationId xmlns:p14="http://schemas.microsoft.com/office/powerpoint/2010/main" val="196350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0A39A-0406-B6CA-9F8D-21D2142D0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7AB2B2-0E56-C1B8-CEA7-2FF619DEC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pPr/>
              <a:t>7</a:t>
            </a:fld>
            <a:endParaRPr lang="en-US" dirty="0">
              <a:latin typeface="Google Sans Flex" panose="020B0503030502040204" pitchFamily="34" charset="0"/>
              <a:ea typeface="Google Sans Flex" panose="020B0503030502040204" pitchFamily="34" charset="0"/>
              <a:cs typeface="Google Sans Flex" panose="020B050303050204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25566F9-98FA-5E54-F1FE-1CB3F0703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Security Features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C6E42E-48A3-AF6F-3EAA-713F7DD59E2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lvl="0"/>
            <a:r>
              <a:rPr lang="en-US" b="1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ReentrancyGuard</a:t>
            </a:r>
            <a:r>
              <a:rPr lang="en-US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 on marketplace + Checks-Effects-Interactions on splitter</a:t>
            </a:r>
          </a:p>
          <a:p>
            <a:pPr lvl="0"/>
            <a:r>
              <a:rPr lang="en-US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Pull-payment </a:t>
            </a:r>
            <a:r>
              <a:rPr lang="en-US" b="1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eliminates out-of-gas</a:t>
            </a:r>
            <a:r>
              <a:rPr lang="en-US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 when distributing to many recipients</a:t>
            </a:r>
          </a:p>
          <a:p>
            <a:pPr lvl="0"/>
            <a:r>
              <a:rPr lang="en-US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EIP-165 introspection ensures royaltyInfo is </a:t>
            </a:r>
            <a:r>
              <a:rPr lang="en-US" b="1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only called if supported</a:t>
            </a:r>
          </a:p>
          <a:p>
            <a:pPr lvl="0"/>
            <a:r>
              <a:rPr lang="en-US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Each token has its own </a:t>
            </a:r>
            <a:r>
              <a:rPr lang="en-US" b="1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isolated, non-upgradeable splitter</a:t>
            </a:r>
          </a:p>
          <a:p>
            <a:pPr lvl="0"/>
            <a:r>
              <a:rPr lang="en-US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Excess ETH refunded </a:t>
            </a:r>
            <a:r>
              <a:rPr lang="en-US" b="1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inside the same atomic transaction</a:t>
            </a:r>
          </a:p>
        </p:txBody>
      </p:sp>
    </p:spTree>
    <p:extLst>
      <p:ext uri="{BB962C8B-B14F-4D97-AF65-F5344CB8AC3E}">
        <p14:creationId xmlns:p14="http://schemas.microsoft.com/office/powerpoint/2010/main" val="3395023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08788-FF89-5359-AD05-2913F4A3C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92E6C0-6420-4C90-7813-36BDC8BA8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pPr/>
              <a:t>8</a:t>
            </a:fld>
            <a:endParaRPr lang="en-US" dirty="0">
              <a:latin typeface="Google Sans Flex" panose="020B0503030502040204" pitchFamily="34" charset="0"/>
              <a:ea typeface="Google Sans Flex" panose="020B0503030502040204" pitchFamily="34" charset="0"/>
              <a:cs typeface="Google Sans Flex" panose="020B050303050204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438A177-4A50-F607-93C5-60D7313E8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Tech Stack &amp; Tools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0AE911-BC77-8945-562E-EEF4193F18B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lvl="0"/>
            <a:r>
              <a:rPr lang="en-US" b="1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Solidity 0.8.20</a:t>
            </a:r>
          </a:p>
          <a:p>
            <a:pPr lvl="0"/>
            <a:r>
              <a:rPr lang="en-US" b="1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OpenZeppelin</a:t>
            </a:r>
            <a:r>
              <a:rPr lang="en-US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 (ERC721, ERC2981, ReentrancyGuard, Address, IERC165)</a:t>
            </a:r>
          </a:p>
          <a:p>
            <a:pPr lvl="0"/>
            <a:r>
              <a:rPr lang="en-US" b="1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Remix IDE </a:t>
            </a:r>
            <a:r>
              <a:rPr lang="en-US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for development &amp; testing</a:t>
            </a:r>
          </a:p>
          <a:p>
            <a:pPr lvl="0"/>
            <a:r>
              <a:rPr lang="en-US" b="1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EIP standards: </a:t>
            </a:r>
            <a:r>
              <a:rPr lang="en-US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ERC-721, EIP-2981, EIP-165</a:t>
            </a:r>
          </a:p>
        </p:txBody>
      </p:sp>
    </p:spTree>
    <p:extLst>
      <p:ext uri="{BB962C8B-B14F-4D97-AF65-F5344CB8AC3E}">
        <p14:creationId xmlns:p14="http://schemas.microsoft.com/office/powerpoint/2010/main" val="2366877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37B5C8-2095-4D2D-97FE-E4E8D8937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itle 10">
            <a:extLst>
              <a:ext uri="{FF2B5EF4-FFF2-40B4-BE49-F238E27FC236}">
                <a16:creationId xmlns:a16="http://schemas.microsoft.com/office/drawing/2014/main" id="{F78B3876-6ECC-4098-BDD1-C48CE4B42721}"/>
              </a:ext>
            </a:extLst>
          </p:cNvPr>
          <p:cNvSpPr txBox="1">
            <a:spLocks/>
          </p:cNvSpPr>
          <p:nvPr/>
        </p:nvSpPr>
        <p:spPr>
          <a:xfrm>
            <a:off x="4181094" y="3021991"/>
            <a:ext cx="4197975" cy="8140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4800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THANK YOU!</a:t>
            </a:r>
            <a:endParaRPr lang="en-US" sz="4800" dirty="0">
              <a:latin typeface="Google Sans Flex" panose="020B0503030502040204" pitchFamily="34" charset="0"/>
              <a:ea typeface="Google Sans Flex" panose="020B0503030502040204" pitchFamily="34" charset="0"/>
              <a:cs typeface="Google Sans Flex" panose="020B0503030502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0535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252</TotalTime>
  <Words>375</Words>
  <Application>Microsoft Office PowerPoint</Application>
  <PresentationFormat>On-screen Show (4:3)</PresentationFormat>
  <Paragraphs>51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Google Sans Flex</vt:lpstr>
      <vt:lpstr>Lato</vt:lpstr>
      <vt:lpstr>Office Theme</vt:lpstr>
      <vt:lpstr>PowerPoint Presentation</vt:lpstr>
      <vt:lpstr>Project Overview</vt:lpstr>
      <vt:lpstr>Advanced ERC-721 &amp; EIP-2981 (Multi-Receiver)</vt:lpstr>
      <vt:lpstr>Payment Splitter (Pull-Payment Pattern)</vt:lpstr>
      <vt:lpstr>Atomic Swaps (Marketplace)</vt:lpstr>
      <vt:lpstr>Lifecycle (Mint → List → Buy → Claim)</vt:lpstr>
      <vt:lpstr>Security Features</vt:lpstr>
      <vt:lpstr>Tech Stack &amp; Tools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suthatnonao</cp:lastModifiedBy>
  <cp:revision>131</cp:revision>
  <dcterms:created xsi:type="dcterms:W3CDTF">2021-05-28T04:32:29Z</dcterms:created>
  <dcterms:modified xsi:type="dcterms:W3CDTF">2026-06-07T14:49:45Z</dcterms:modified>
</cp:coreProperties>
</file>